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420138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0" d="100"/>
          <a:sy n="10" d="100"/>
        </p:scale>
        <p:origin x="24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6511" y="4954765"/>
            <a:ext cx="18207117" cy="10540259"/>
          </a:xfrm>
        </p:spPr>
        <p:txBody>
          <a:bodyPr anchor="b"/>
          <a:lstStyle>
            <a:lvl1pPr algn="ctr">
              <a:defRPr sz="1405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7517" y="15901497"/>
            <a:ext cx="16065104" cy="7309499"/>
          </a:xfrm>
        </p:spPr>
        <p:txBody>
          <a:bodyPr/>
          <a:lstStyle>
            <a:lvl1pPr marL="0" indent="0" algn="ctr">
              <a:buNone/>
              <a:defRPr sz="5622"/>
            </a:lvl1pPr>
            <a:lvl2pPr marL="1070991" indent="0" algn="ctr">
              <a:buNone/>
              <a:defRPr sz="4685"/>
            </a:lvl2pPr>
            <a:lvl3pPr marL="2141982" indent="0" algn="ctr">
              <a:buNone/>
              <a:defRPr sz="4217"/>
            </a:lvl3pPr>
            <a:lvl4pPr marL="3212973" indent="0" algn="ctr">
              <a:buNone/>
              <a:defRPr sz="3748"/>
            </a:lvl4pPr>
            <a:lvl5pPr marL="4283964" indent="0" algn="ctr">
              <a:buNone/>
              <a:defRPr sz="3748"/>
            </a:lvl5pPr>
            <a:lvl6pPr marL="5354955" indent="0" algn="ctr">
              <a:buNone/>
              <a:defRPr sz="3748"/>
            </a:lvl6pPr>
            <a:lvl7pPr marL="6425946" indent="0" algn="ctr">
              <a:buNone/>
              <a:defRPr sz="3748"/>
            </a:lvl7pPr>
            <a:lvl8pPr marL="7496937" indent="0" algn="ctr">
              <a:buNone/>
              <a:defRPr sz="3748"/>
            </a:lvl8pPr>
            <a:lvl9pPr marL="8567928" indent="0" algn="ctr">
              <a:buNone/>
              <a:defRPr sz="3748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CC80-8225-4B66-A548-FC10F92183A7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97C-0F2C-48AD-815F-6898A9B3CC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8681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CC80-8225-4B66-A548-FC10F92183A7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97C-0F2C-48AD-815F-6898A9B3CC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1034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1479" y="7547788"/>
            <a:ext cx="18474869" cy="12593645"/>
          </a:xfrm>
        </p:spPr>
        <p:txBody>
          <a:bodyPr anchor="b"/>
          <a:lstStyle>
            <a:lvl1pPr>
              <a:defRPr sz="1405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1479" y="20260574"/>
            <a:ext cx="18474869" cy="6622701"/>
          </a:xfrm>
        </p:spPr>
        <p:txBody>
          <a:bodyPr/>
          <a:lstStyle>
            <a:lvl1pPr marL="0" indent="0">
              <a:buNone/>
              <a:defRPr sz="5622">
                <a:solidFill>
                  <a:schemeClr val="tx1"/>
                </a:solidFill>
              </a:defRPr>
            </a:lvl1pPr>
            <a:lvl2pPr marL="1070991" indent="0">
              <a:buNone/>
              <a:defRPr sz="4685">
                <a:solidFill>
                  <a:schemeClr val="tx1">
                    <a:tint val="75000"/>
                  </a:schemeClr>
                </a:solidFill>
              </a:defRPr>
            </a:lvl2pPr>
            <a:lvl3pPr marL="2141982" indent="0">
              <a:buNone/>
              <a:defRPr sz="4217">
                <a:solidFill>
                  <a:schemeClr val="tx1">
                    <a:tint val="75000"/>
                  </a:schemeClr>
                </a:solidFill>
              </a:defRPr>
            </a:lvl3pPr>
            <a:lvl4pPr marL="3212973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4pPr>
            <a:lvl5pPr marL="4283964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5pPr>
            <a:lvl6pPr marL="5354955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6pPr>
            <a:lvl7pPr marL="6425946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7pPr>
            <a:lvl8pPr marL="7496937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8pPr>
            <a:lvl9pPr marL="8567928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CC80-8225-4B66-A548-FC10F92183A7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97C-0F2C-48AD-815F-6898A9B3CC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1181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2634" y="8059374"/>
            <a:ext cx="9103559" cy="1920934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43945" y="8059374"/>
            <a:ext cx="9103559" cy="1920934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CC80-8225-4B66-A548-FC10F92183A7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97C-0F2C-48AD-815F-6898A9B3CC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57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1611882"/>
            <a:ext cx="18474869" cy="585180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5427" y="7421634"/>
            <a:ext cx="9061721" cy="3637228"/>
          </a:xfrm>
        </p:spPr>
        <p:txBody>
          <a:bodyPr anchor="b"/>
          <a:lstStyle>
            <a:lvl1pPr marL="0" indent="0">
              <a:buNone/>
              <a:defRPr sz="5622" b="1"/>
            </a:lvl1pPr>
            <a:lvl2pPr marL="1070991" indent="0">
              <a:buNone/>
              <a:defRPr sz="4685" b="1"/>
            </a:lvl2pPr>
            <a:lvl3pPr marL="2141982" indent="0">
              <a:buNone/>
              <a:defRPr sz="4217" b="1"/>
            </a:lvl3pPr>
            <a:lvl4pPr marL="3212973" indent="0">
              <a:buNone/>
              <a:defRPr sz="3748" b="1"/>
            </a:lvl4pPr>
            <a:lvl5pPr marL="4283964" indent="0">
              <a:buNone/>
              <a:defRPr sz="3748" b="1"/>
            </a:lvl5pPr>
            <a:lvl6pPr marL="5354955" indent="0">
              <a:buNone/>
              <a:defRPr sz="3748" b="1"/>
            </a:lvl6pPr>
            <a:lvl7pPr marL="6425946" indent="0">
              <a:buNone/>
              <a:defRPr sz="3748" b="1"/>
            </a:lvl7pPr>
            <a:lvl8pPr marL="7496937" indent="0">
              <a:buNone/>
              <a:defRPr sz="3748" b="1"/>
            </a:lvl8pPr>
            <a:lvl9pPr marL="8567928" indent="0">
              <a:buNone/>
              <a:defRPr sz="374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5427" y="11058863"/>
            <a:ext cx="9061721" cy="1626592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43946" y="7421634"/>
            <a:ext cx="9106349" cy="3637228"/>
          </a:xfrm>
        </p:spPr>
        <p:txBody>
          <a:bodyPr anchor="b"/>
          <a:lstStyle>
            <a:lvl1pPr marL="0" indent="0">
              <a:buNone/>
              <a:defRPr sz="5622" b="1"/>
            </a:lvl1pPr>
            <a:lvl2pPr marL="1070991" indent="0">
              <a:buNone/>
              <a:defRPr sz="4685" b="1"/>
            </a:lvl2pPr>
            <a:lvl3pPr marL="2141982" indent="0">
              <a:buNone/>
              <a:defRPr sz="4217" b="1"/>
            </a:lvl3pPr>
            <a:lvl4pPr marL="3212973" indent="0">
              <a:buNone/>
              <a:defRPr sz="3748" b="1"/>
            </a:lvl4pPr>
            <a:lvl5pPr marL="4283964" indent="0">
              <a:buNone/>
              <a:defRPr sz="3748" b="1"/>
            </a:lvl5pPr>
            <a:lvl6pPr marL="5354955" indent="0">
              <a:buNone/>
              <a:defRPr sz="3748" b="1"/>
            </a:lvl6pPr>
            <a:lvl7pPr marL="6425946" indent="0">
              <a:buNone/>
              <a:defRPr sz="3748" b="1"/>
            </a:lvl7pPr>
            <a:lvl8pPr marL="7496937" indent="0">
              <a:buNone/>
              <a:defRPr sz="3748" b="1"/>
            </a:lvl8pPr>
            <a:lvl9pPr marL="8567928" indent="0">
              <a:buNone/>
              <a:defRPr sz="374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43946" y="11058863"/>
            <a:ext cx="9106349" cy="1626592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CC80-8225-4B66-A548-FC10F92183A7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97C-0F2C-48AD-815F-6898A9B3CC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8584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CC80-8225-4B66-A548-FC10F92183A7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97C-0F2C-48AD-815F-6898A9B3CC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121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CC80-8225-4B66-A548-FC10F92183A7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97C-0F2C-48AD-815F-6898A9B3CC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2109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2018348"/>
            <a:ext cx="6908552" cy="7064216"/>
          </a:xfrm>
        </p:spPr>
        <p:txBody>
          <a:bodyPr anchor="b"/>
          <a:lstStyle>
            <a:lvl1pPr>
              <a:defRPr sz="749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06349" y="4359077"/>
            <a:ext cx="10843945" cy="21515024"/>
          </a:xfrm>
        </p:spPr>
        <p:txBody>
          <a:bodyPr/>
          <a:lstStyle>
            <a:lvl1pPr>
              <a:defRPr sz="7496"/>
            </a:lvl1pPr>
            <a:lvl2pPr>
              <a:defRPr sz="6559"/>
            </a:lvl2pPr>
            <a:lvl3pPr>
              <a:defRPr sz="5622"/>
            </a:lvl3pPr>
            <a:lvl4pPr>
              <a:defRPr sz="4685"/>
            </a:lvl4pPr>
            <a:lvl5pPr>
              <a:defRPr sz="4685"/>
            </a:lvl5pPr>
            <a:lvl6pPr>
              <a:defRPr sz="4685"/>
            </a:lvl6pPr>
            <a:lvl7pPr>
              <a:defRPr sz="4685"/>
            </a:lvl7pPr>
            <a:lvl8pPr>
              <a:defRPr sz="4685"/>
            </a:lvl8pPr>
            <a:lvl9pPr>
              <a:defRPr sz="468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5424" y="9082564"/>
            <a:ext cx="6908552" cy="16826573"/>
          </a:xfrm>
        </p:spPr>
        <p:txBody>
          <a:bodyPr/>
          <a:lstStyle>
            <a:lvl1pPr marL="0" indent="0">
              <a:buNone/>
              <a:defRPr sz="3748"/>
            </a:lvl1pPr>
            <a:lvl2pPr marL="1070991" indent="0">
              <a:buNone/>
              <a:defRPr sz="3280"/>
            </a:lvl2pPr>
            <a:lvl3pPr marL="2141982" indent="0">
              <a:buNone/>
              <a:defRPr sz="2811"/>
            </a:lvl3pPr>
            <a:lvl4pPr marL="3212973" indent="0">
              <a:buNone/>
              <a:defRPr sz="2343"/>
            </a:lvl4pPr>
            <a:lvl5pPr marL="4283964" indent="0">
              <a:buNone/>
              <a:defRPr sz="2343"/>
            </a:lvl5pPr>
            <a:lvl6pPr marL="5354955" indent="0">
              <a:buNone/>
              <a:defRPr sz="2343"/>
            </a:lvl6pPr>
            <a:lvl7pPr marL="6425946" indent="0">
              <a:buNone/>
              <a:defRPr sz="2343"/>
            </a:lvl7pPr>
            <a:lvl8pPr marL="7496937" indent="0">
              <a:buNone/>
              <a:defRPr sz="2343"/>
            </a:lvl8pPr>
            <a:lvl9pPr marL="8567928" indent="0">
              <a:buNone/>
              <a:defRPr sz="234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CC80-8225-4B66-A548-FC10F92183A7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97C-0F2C-48AD-815F-6898A9B3CC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317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2018348"/>
            <a:ext cx="6908552" cy="7064216"/>
          </a:xfrm>
        </p:spPr>
        <p:txBody>
          <a:bodyPr anchor="b"/>
          <a:lstStyle>
            <a:lvl1pPr>
              <a:defRPr sz="749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06349" y="4359077"/>
            <a:ext cx="10843945" cy="21515024"/>
          </a:xfrm>
        </p:spPr>
        <p:txBody>
          <a:bodyPr anchor="t"/>
          <a:lstStyle>
            <a:lvl1pPr marL="0" indent="0">
              <a:buNone/>
              <a:defRPr sz="7496"/>
            </a:lvl1pPr>
            <a:lvl2pPr marL="1070991" indent="0">
              <a:buNone/>
              <a:defRPr sz="6559"/>
            </a:lvl2pPr>
            <a:lvl3pPr marL="2141982" indent="0">
              <a:buNone/>
              <a:defRPr sz="5622"/>
            </a:lvl3pPr>
            <a:lvl4pPr marL="3212973" indent="0">
              <a:buNone/>
              <a:defRPr sz="4685"/>
            </a:lvl4pPr>
            <a:lvl5pPr marL="4283964" indent="0">
              <a:buNone/>
              <a:defRPr sz="4685"/>
            </a:lvl5pPr>
            <a:lvl6pPr marL="5354955" indent="0">
              <a:buNone/>
              <a:defRPr sz="4685"/>
            </a:lvl6pPr>
            <a:lvl7pPr marL="6425946" indent="0">
              <a:buNone/>
              <a:defRPr sz="4685"/>
            </a:lvl7pPr>
            <a:lvl8pPr marL="7496937" indent="0">
              <a:buNone/>
              <a:defRPr sz="4685"/>
            </a:lvl8pPr>
            <a:lvl9pPr marL="8567928" indent="0">
              <a:buNone/>
              <a:defRPr sz="468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5424" y="9082564"/>
            <a:ext cx="6908552" cy="16826573"/>
          </a:xfrm>
        </p:spPr>
        <p:txBody>
          <a:bodyPr/>
          <a:lstStyle>
            <a:lvl1pPr marL="0" indent="0">
              <a:buNone/>
              <a:defRPr sz="3748"/>
            </a:lvl1pPr>
            <a:lvl2pPr marL="1070991" indent="0">
              <a:buNone/>
              <a:defRPr sz="3280"/>
            </a:lvl2pPr>
            <a:lvl3pPr marL="2141982" indent="0">
              <a:buNone/>
              <a:defRPr sz="2811"/>
            </a:lvl3pPr>
            <a:lvl4pPr marL="3212973" indent="0">
              <a:buNone/>
              <a:defRPr sz="2343"/>
            </a:lvl4pPr>
            <a:lvl5pPr marL="4283964" indent="0">
              <a:buNone/>
              <a:defRPr sz="2343"/>
            </a:lvl5pPr>
            <a:lvl6pPr marL="5354955" indent="0">
              <a:buNone/>
              <a:defRPr sz="2343"/>
            </a:lvl6pPr>
            <a:lvl7pPr marL="6425946" indent="0">
              <a:buNone/>
              <a:defRPr sz="2343"/>
            </a:lvl7pPr>
            <a:lvl8pPr marL="7496937" indent="0">
              <a:buNone/>
              <a:defRPr sz="2343"/>
            </a:lvl8pPr>
            <a:lvl9pPr marL="8567928" indent="0">
              <a:buNone/>
              <a:defRPr sz="234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CC80-8225-4B66-A548-FC10F92183A7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97C-0F2C-48AD-815F-6898A9B3CC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44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CC80-8225-4B66-A548-FC10F92183A7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97C-0F2C-48AD-815F-6898A9B3CC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2313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28788" y="1611875"/>
            <a:ext cx="4618717" cy="256568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2636" y="1611875"/>
            <a:ext cx="13588400" cy="256568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CC80-8225-4B66-A548-FC10F92183A7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97C-0F2C-48AD-815F-6898A9B3CC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755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2635" y="1611882"/>
            <a:ext cx="18474869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635" y="8059374"/>
            <a:ext cx="18474869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BCC80-8225-4B66-A548-FC10F92183A7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F597C-0F2C-48AD-815F-6898A9B3CC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68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41982" rtl="0" eaLnBrk="1" latinLnBrk="0" hangingPunct="1">
        <a:lnSpc>
          <a:spcPct val="90000"/>
        </a:lnSpc>
        <a:spcBef>
          <a:spcPct val="0"/>
        </a:spcBef>
        <a:buNone/>
        <a:defRPr sz="103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5496" indent="-535496" algn="l" defTabSz="2141982" rtl="0" eaLnBrk="1" latinLnBrk="0" hangingPunct="1">
        <a:lnSpc>
          <a:spcPct val="90000"/>
        </a:lnSpc>
        <a:spcBef>
          <a:spcPts val="2343"/>
        </a:spcBef>
        <a:buFont typeface="Arial" panose="020B0604020202020204" pitchFamily="34" charset="0"/>
        <a:buChar char="•"/>
        <a:defRPr sz="6559" kern="1200">
          <a:solidFill>
            <a:schemeClr val="tx1"/>
          </a:solidFill>
          <a:latin typeface="+mn-lt"/>
          <a:ea typeface="+mn-ea"/>
          <a:cs typeface="+mn-cs"/>
        </a:defRPr>
      </a:lvl1pPr>
      <a:lvl2pPr marL="1606487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5622" kern="1200">
          <a:solidFill>
            <a:schemeClr val="tx1"/>
          </a:solidFill>
          <a:latin typeface="+mn-lt"/>
          <a:ea typeface="+mn-ea"/>
          <a:cs typeface="+mn-cs"/>
        </a:defRPr>
      </a:lvl2pPr>
      <a:lvl3pPr marL="2677478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685" kern="1200">
          <a:solidFill>
            <a:schemeClr val="tx1"/>
          </a:solidFill>
          <a:latin typeface="+mn-lt"/>
          <a:ea typeface="+mn-ea"/>
          <a:cs typeface="+mn-cs"/>
        </a:defRPr>
      </a:lvl3pPr>
      <a:lvl4pPr marL="3748469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4pPr>
      <a:lvl5pPr marL="4819460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5pPr>
      <a:lvl6pPr marL="5890451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6pPr>
      <a:lvl7pPr marL="6961442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7pPr>
      <a:lvl8pPr marL="8032433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8pPr>
      <a:lvl9pPr marL="9103424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1pPr>
      <a:lvl2pPr marL="1070991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2pPr>
      <a:lvl3pPr marL="2141982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3pPr>
      <a:lvl4pPr marL="3212973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4pPr>
      <a:lvl5pPr marL="4283964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5pPr>
      <a:lvl6pPr marL="5354955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6pPr>
      <a:lvl7pPr marL="6425946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7pPr>
      <a:lvl8pPr marL="7496937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8pPr>
      <a:lvl9pPr marL="8567928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FDF265C-8341-F81C-F5AB-3EBAFA53DC31}"/>
              </a:ext>
            </a:extLst>
          </p:cNvPr>
          <p:cNvSpPr/>
          <p:nvPr/>
        </p:nvSpPr>
        <p:spPr>
          <a:xfrm>
            <a:off x="458893" y="23213320"/>
            <a:ext cx="10004852" cy="52204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B9E4011-871F-534A-470E-13078E5DFE54}"/>
              </a:ext>
            </a:extLst>
          </p:cNvPr>
          <p:cNvSpPr/>
          <p:nvPr/>
        </p:nvSpPr>
        <p:spPr>
          <a:xfrm>
            <a:off x="458893" y="11419986"/>
            <a:ext cx="20502352" cy="11846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NOMBRE Y APELLIDOS - GRUPO - E-MAIL - FECHA">
            <a:extLst>
              <a:ext uri="{FF2B5EF4-FFF2-40B4-BE49-F238E27FC236}">
                <a16:creationId xmlns:a16="http://schemas.microsoft.com/office/drawing/2014/main" id="{889977FD-D4A1-397C-ACD3-7A908651253F}"/>
              </a:ext>
            </a:extLst>
          </p:cNvPr>
          <p:cNvSpPr txBox="1"/>
          <p:nvPr/>
        </p:nvSpPr>
        <p:spPr>
          <a:xfrm>
            <a:off x="2993699" y="704614"/>
            <a:ext cx="16728140" cy="3570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5800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  <a:sym typeface="Avenir Next Condensed"/>
              </a:defRPr>
            </a:lvl1pPr>
          </a:lstStyle>
          <a:p>
            <a:pPr algn="ctr"/>
            <a:r>
              <a:rPr lang="es-ES" sz="7200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</a:t>
            </a:r>
            <a:r>
              <a:rPr lang="es-ES" sz="72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-RT RIC en redes 5G O-RAN</a:t>
            </a:r>
            <a:endParaRPr lang="es-ES" sz="88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960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 algn="ctr"/>
            <a:endParaRPr sz="5000" dirty="0"/>
          </a:p>
        </p:txBody>
      </p:sp>
      <p:sp>
        <p:nvSpPr>
          <p:cNvPr id="4" name="NOMBRE Y APELLIDOS - GRUPO - E-MAIL - FECHA">
            <a:extLst>
              <a:ext uri="{FF2B5EF4-FFF2-40B4-BE49-F238E27FC236}">
                <a16:creationId xmlns:a16="http://schemas.microsoft.com/office/drawing/2014/main" id="{8815B9C1-43EA-BB53-ECF9-6CEE6BDF22DE}"/>
              </a:ext>
            </a:extLst>
          </p:cNvPr>
          <p:cNvSpPr txBox="1"/>
          <p:nvPr/>
        </p:nvSpPr>
        <p:spPr>
          <a:xfrm>
            <a:off x="4567997" y="2217343"/>
            <a:ext cx="11750743" cy="132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5800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  <a:sym typeface="Avenir Next Condensed"/>
              </a:defRPr>
            </a:lvl1pPr>
          </a:lstStyle>
          <a:p>
            <a:pPr algn="ctr"/>
            <a:r>
              <a:rPr lang="es-ES" sz="4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Alejandra Oliver Boada</a:t>
            </a:r>
          </a:p>
          <a:p>
            <a:pPr algn="ctr"/>
            <a:r>
              <a:rPr lang="es-ES" sz="4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Jorge Navarro Ortiz, Félix Delgado Ferro</a:t>
            </a:r>
            <a:endParaRPr sz="48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D64ED8C-B2DA-1203-659A-EACC8709654C}"/>
              </a:ext>
            </a:extLst>
          </p:cNvPr>
          <p:cNvSpPr/>
          <p:nvPr/>
        </p:nvSpPr>
        <p:spPr>
          <a:xfrm>
            <a:off x="317635" y="3975548"/>
            <a:ext cx="11264766" cy="681945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43D32EC-2126-6C87-7B65-8CFCE0631B7F}"/>
              </a:ext>
            </a:extLst>
          </p:cNvPr>
          <p:cNvSpPr/>
          <p:nvPr/>
        </p:nvSpPr>
        <p:spPr>
          <a:xfrm>
            <a:off x="11832250" y="3975548"/>
            <a:ext cx="9242760" cy="681945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817C145-1BEC-4931-531F-4D7BD2FB157E}"/>
              </a:ext>
            </a:extLst>
          </p:cNvPr>
          <p:cNvSpPr/>
          <p:nvPr/>
        </p:nvSpPr>
        <p:spPr>
          <a:xfrm>
            <a:off x="10845679" y="23640201"/>
            <a:ext cx="10007697" cy="497150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B52D382-7BC7-5C1B-8CCC-2A38BB5C233C}"/>
              </a:ext>
            </a:extLst>
          </p:cNvPr>
          <p:cNvCxnSpPr>
            <a:cxnSpLocks/>
          </p:cNvCxnSpPr>
          <p:nvPr/>
        </p:nvCxnSpPr>
        <p:spPr>
          <a:xfrm>
            <a:off x="10608468" y="23444200"/>
            <a:ext cx="0" cy="5167504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E4F54D1D-66F0-7D34-85EE-8C985F7E9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1445" y="5012952"/>
            <a:ext cx="8664369" cy="5287001"/>
          </a:xfrm>
          <a:prstGeom prst="rect">
            <a:avLst/>
          </a:prstGeom>
        </p:spPr>
      </p:pic>
      <p:sp>
        <p:nvSpPr>
          <p:cNvPr id="18" name="NOMBRE Y APELLIDOS - GRUPO - E-MAIL - FECHA">
            <a:extLst>
              <a:ext uri="{FF2B5EF4-FFF2-40B4-BE49-F238E27FC236}">
                <a16:creationId xmlns:a16="http://schemas.microsoft.com/office/drawing/2014/main" id="{F59D53E4-CA09-5166-C221-BB3FC8269CC0}"/>
              </a:ext>
            </a:extLst>
          </p:cNvPr>
          <p:cNvSpPr txBox="1"/>
          <p:nvPr/>
        </p:nvSpPr>
        <p:spPr>
          <a:xfrm>
            <a:off x="10608467" y="4096308"/>
            <a:ext cx="11750743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5800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  <a:sym typeface="Avenir Next Condensed"/>
              </a:defRPr>
            </a:lvl1pPr>
          </a:lstStyle>
          <a:p>
            <a:pPr algn="ctr"/>
            <a:r>
              <a:rPr lang="es-E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5G O-RAN</a:t>
            </a:r>
            <a:endParaRPr sz="4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NOMBRE Y APELLIDOS - GRUPO - E-MAIL - FECHA">
            <a:extLst>
              <a:ext uri="{FF2B5EF4-FFF2-40B4-BE49-F238E27FC236}">
                <a16:creationId xmlns:a16="http://schemas.microsoft.com/office/drawing/2014/main" id="{82357200-B8CF-129C-78BA-126903B311CB}"/>
              </a:ext>
            </a:extLst>
          </p:cNvPr>
          <p:cNvSpPr txBox="1"/>
          <p:nvPr/>
        </p:nvSpPr>
        <p:spPr>
          <a:xfrm>
            <a:off x="3628739" y="4086582"/>
            <a:ext cx="5336074" cy="5016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5800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  <a:sym typeface="Avenir Next Condensed"/>
              </a:defRPr>
            </a:lvl1pPr>
          </a:lstStyle>
          <a:p>
            <a:pPr algn="ctr"/>
            <a:r>
              <a:rPr lang="es-E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</a:p>
          <a:p>
            <a:pPr algn="ctr"/>
            <a:endParaRPr lang="es-E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NOMBRE Y APELLIDOS - GRUPO - E-MAIL - FECHA">
            <a:extLst>
              <a:ext uri="{FF2B5EF4-FFF2-40B4-BE49-F238E27FC236}">
                <a16:creationId xmlns:a16="http://schemas.microsoft.com/office/drawing/2014/main" id="{EC97FB7E-778E-4171-7184-97FBA09E517D}"/>
              </a:ext>
            </a:extLst>
          </p:cNvPr>
          <p:cNvSpPr txBox="1"/>
          <p:nvPr/>
        </p:nvSpPr>
        <p:spPr>
          <a:xfrm>
            <a:off x="12950864" y="23887536"/>
            <a:ext cx="533607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5800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  <a:sym typeface="Avenir Next Condensed"/>
              </a:defRPr>
            </a:lvl1pPr>
          </a:lstStyle>
          <a:p>
            <a:pPr algn="ctr"/>
            <a:r>
              <a:rPr lang="es-E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DISCUSIÓN</a:t>
            </a:r>
          </a:p>
        </p:txBody>
      </p:sp>
      <p:sp>
        <p:nvSpPr>
          <p:cNvPr id="22" name="NOMBRE Y APELLIDOS - GRUPO - E-MAIL - FECHA">
            <a:extLst>
              <a:ext uri="{FF2B5EF4-FFF2-40B4-BE49-F238E27FC236}">
                <a16:creationId xmlns:a16="http://schemas.microsoft.com/office/drawing/2014/main" id="{EBDA5E3E-AE1B-9FA5-EA93-3B2C6AA7F4F1}"/>
              </a:ext>
            </a:extLst>
          </p:cNvPr>
          <p:cNvSpPr txBox="1"/>
          <p:nvPr/>
        </p:nvSpPr>
        <p:spPr>
          <a:xfrm>
            <a:off x="4733096" y="11532361"/>
            <a:ext cx="11750743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5800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  <a:sym typeface="Avenir Next Condensed"/>
              </a:defRPr>
            </a:lvl1pPr>
          </a:lstStyle>
          <a:p>
            <a:pPr algn="ctr"/>
            <a:r>
              <a:rPr lang="es-ES" sz="4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endParaRPr sz="4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1255AA76-4B80-32FB-B884-DC2463A38CB2}"/>
              </a:ext>
            </a:extLst>
          </p:cNvPr>
          <p:cNvCxnSpPr>
            <a:cxnSpLocks/>
          </p:cNvCxnSpPr>
          <p:nvPr/>
        </p:nvCxnSpPr>
        <p:spPr>
          <a:xfrm>
            <a:off x="10608468" y="23444200"/>
            <a:ext cx="10466544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4E377B21-D71C-E7D5-8E27-FD7BF94A5061}"/>
              </a:ext>
            </a:extLst>
          </p:cNvPr>
          <p:cNvCxnSpPr>
            <a:cxnSpLocks/>
          </p:cNvCxnSpPr>
          <p:nvPr/>
        </p:nvCxnSpPr>
        <p:spPr>
          <a:xfrm flipV="1">
            <a:off x="317634" y="11263470"/>
            <a:ext cx="20784870" cy="1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NOMBRE Y APELLIDOS - GRUPO - E-MAIL - FECHA">
            <a:extLst>
              <a:ext uri="{FF2B5EF4-FFF2-40B4-BE49-F238E27FC236}">
                <a16:creationId xmlns:a16="http://schemas.microsoft.com/office/drawing/2014/main" id="{5E4CB6EF-6426-F4E4-079E-464283F36FF4}"/>
              </a:ext>
            </a:extLst>
          </p:cNvPr>
          <p:cNvSpPr txBox="1"/>
          <p:nvPr/>
        </p:nvSpPr>
        <p:spPr>
          <a:xfrm>
            <a:off x="-2246633" y="12204898"/>
            <a:ext cx="11750743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5800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  <a:sym typeface="Avenir Next Condensed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s-ES" sz="4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MONITORIZACIÓN</a:t>
            </a:r>
            <a:endParaRPr sz="4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NOMBRE Y APELLIDOS - GRUPO - E-MAIL - FECHA">
            <a:extLst>
              <a:ext uri="{FF2B5EF4-FFF2-40B4-BE49-F238E27FC236}">
                <a16:creationId xmlns:a16="http://schemas.microsoft.com/office/drawing/2014/main" id="{7C27DF50-33C8-28C8-7D94-168999ECD533}"/>
              </a:ext>
            </a:extLst>
          </p:cNvPr>
          <p:cNvSpPr txBox="1"/>
          <p:nvPr/>
        </p:nvSpPr>
        <p:spPr>
          <a:xfrm>
            <a:off x="-3471559" y="21288026"/>
            <a:ext cx="11750743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5800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  <a:sym typeface="Avenir Next Condensed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s-ES" sz="4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endParaRPr sz="4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57DA2D4-3025-D3B6-6D4F-0BF2B0406268}"/>
              </a:ext>
            </a:extLst>
          </p:cNvPr>
          <p:cNvSpPr txBox="1"/>
          <p:nvPr/>
        </p:nvSpPr>
        <p:spPr>
          <a:xfrm>
            <a:off x="741119" y="4832094"/>
            <a:ext cx="1043488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las redes 5G y 6G, la monitorización y el control son cada vez más necesarios para optimizar su rendimiento y eficiencia. En este contexto, las redes O-RAN, con una arquitectura desagregada, incorporan el RIC, que junto con las </a:t>
            </a:r>
            <a:r>
              <a:rPr lang="es-E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xApps</a:t>
            </a:r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comunica con la </a:t>
            </a:r>
            <a:r>
              <a:rPr lang="es-E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gNB</a:t>
            </a:r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través de la interfaz E2, permitiendo recibir métricas de la red y enviar acciones de control.</a:t>
            </a:r>
          </a:p>
          <a:p>
            <a:pPr algn="just"/>
            <a:endParaRPr lang="es-E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E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Evaluar el uso del RIC de tipo </a:t>
            </a:r>
            <a:r>
              <a:rPr lang="es-E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Near</a:t>
            </a:r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-RT y de sus </a:t>
            </a:r>
            <a:r>
              <a:rPr lang="es-E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xApps</a:t>
            </a:r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la supervisión y gestión de una red 5G simulada.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A53B3D1-5F2E-6000-791D-E5C6FD5E62B6}"/>
              </a:ext>
            </a:extLst>
          </p:cNvPr>
          <p:cNvSpPr txBox="1"/>
          <p:nvPr/>
        </p:nvSpPr>
        <p:spPr>
          <a:xfrm>
            <a:off x="5115248" y="28842580"/>
            <a:ext cx="149139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None/>
            </a:pPr>
            <a:r>
              <a:rPr lang="es-E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Software Radio </a:t>
            </a:r>
            <a:r>
              <a:rPr lang="es-E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es-E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(SRS), "</a:t>
            </a:r>
            <a:r>
              <a:rPr lang="es-E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srsRAN</a:t>
            </a:r>
            <a:r>
              <a:rPr lang="es-E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Project: Open </a:t>
            </a:r>
            <a:r>
              <a:rPr lang="es-E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s-E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O-RAN 5G CU/DU </a:t>
            </a:r>
            <a:r>
              <a:rPr lang="es-E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s-E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," </a:t>
            </a:r>
            <a:r>
              <a:rPr lang="es-E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GitHub.</a:t>
            </a:r>
            <a:endParaRPr lang="es-E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8913818-466F-74C6-D6BD-CF00BC037697}"/>
              </a:ext>
            </a:extLst>
          </p:cNvPr>
          <p:cNvSpPr txBox="1"/>
          <p:nvPr/>
        </p:nvSpPr>
        <p:spPr>
          <a:xfrm>
            <a:off x="11801153" y="24791422"/>
            <a:ext cx="836407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ha podido probar la eficiencia del </a:t>
            </a:r>
            <a:r>
              <a:rPr lang="es-E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Near</a:t>
            </a:r>
            <a:r>
              <a: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-RT RIC en las redes 5G, observando que permite una toma de decisiones más rápida y precisa gracias al uso de </a:t>
            </a:r>
            <a:r>
              <a:rPr lang="es-E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xApps</a:t>
            </a:r>
            <a:r>
              <a: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 que se traduce en una mejora del rendimiento de la red, una optimización de los recursos radio y una mayor capacidad de adaptación a las condiciones dinámicas del entorno.</a:t>
            </a:r>
            <a:endParaRPr lang="es-E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5BF0C29D-2303-82C7-1735-AFF0B19FDE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"/>
          <a:stretch/>
        </p:blipFill>
        <p:spPr>
          <a:xfrm>
            <a:off x="649546" y="23017315"/>
            <a:ext cx="9627011" cy="5185595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EDE49ADC-20DE-9320-0905-DD5D9A461D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t="6512"/>
          <a:stretch/>
        </p:blipFill>
        <p:spPr>
          <a:xfrm>
            <a:off x="645772" y="14049347"/>
            <a:ext cx="10269250" cy="1653084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651F3919-D347-A154-77F5-EA843504AE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19" y="15828736"/>
            <a:ext cx="9863969" cy="4914890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CE27F802-8B42-E1C2-0D47-AE7DA7C6D5F4}"/>
              </a:ext>
            </a:extLst>
          </p:cNvPr>
          <p:cNvSpPr txBox="1"/>
          <p:nvPr/>
        </p:nvSpPr>
        <p:spPr>
          <a:xfrm>
            <a:off x="975811" y="12991116"/>
            <a:ext cx="95036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lang="es-E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Near</a:t>
            </a:r>
            <a:r>
              <a: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-RT RIC monitoriza las métricas de la red con precisión y en tiempo real.</a:t>
            </a:r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5AE17BCB-41E5-9AB2-216D-66B5015FBB96}"/>
              </a:ext>
            </a:extLst>
          </p:cNvPr>
          <p:cNvCxnSpPr>
            <a:cxnSpLocks/>
          </p:cNvCxnSpPr>
          <p:nvPr/>
        </p:nvCxnSpPr>
        <p:spPr>
          <a:xfrm>
            <a:off x="21099037" y="11263470"/>
            <a:ext cx="3467" cy="1218073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5AB49295-D61F-C46C-A718-F58548B4EFB7}"/>
              </a:ext>
            </a:extLst>
          </p:cNvPr>
          <p:cNvCxnSpPr>
            <a:cxnSpLocks/>
          </p:cNvCxnSpPr>
          <p:nvPr/>
        </p:nvCxnSpPr>
        <p:spPr>
          <a:xfrm>
            <a:off x="317634" y="11219863"/>
            <a:ext cx="0" cy="17391841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8441774E-A122-60C9-923D-4A8420FDEF40}"/>
              </a:ext>
            </a:extLst>
          </p:cNvPr>
          <p:cNvCxnSpPr>
            <a:cxnSpLocks/>
          </p:cNvCxnSpPr>
          <p:nvPr/>
        </p:nvCxnSpPr>
        <p:spPr>
          <a:xfrm>
            <a:off x="317634" y="28611704"/>
            <a:ext cx="10290834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1" name="NOMBRE Y APELLIDOS - GRUPO - E-MAIL - FECHA">
            <a:extLst>
              <a:ext uri="{FF2B5EF4-FFF2-40B4-BE49-F238E27FC236}">
                <a16:creationId xmlns:a16="http://schemas.microsoft.com/office/drawing/2014/main" id="{2323B231-63E0-5EFB-80DE-8B045E82DD0B}"/>
              </a:ext>
            </a:extLst>
          </p:cNvPr>
          <p:cNvSpPr txBox="1"/>
          <p:nvPr/>
        </p:nvSpPr>
        <p:spPr>
          <a:xfrm>
            <a:off x="10745172" y="14342321"/>
            <a:ext cx="5077226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5800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  <a:sym typeface="Avenir Next Condensed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s-ES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COMUNICACIÓN E2</a:t>
            </a:r>
            <a:endParaRPr sz="4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" name="Imagen 62">
            <a:extLst>
              <a:ext uri="{FF2B5EF4-FFF2-40B4-BE49-F238E27FC236}">
                <a16:creationId xmlns:a16="http://schemas.microsoft.com/office/drawing/2014/main" id="{B6ECB6D8-9929-3301-6847-0E5C4038D7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6772" y="11575777"/>
            <a:ext cx="4862828" cy="5396554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20181044-BE87-4C70-4B15-EB0B093F05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769" y="16976120"/>
            <a:ext cx="4845930" cy="6034555"/>
          </a:xfrm>
          <a:prstGeom prst="rect">
            <a:avLst/>
          </a:prstGeom>
        </p:spPr>
      </p:pic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CFB4BAA0-0C38-F05C-60C7-CEAAAB58E6C0}"/>
              </a:ext>
            </a:extLst>
          </p:cNvPr>
          <p:cNvCxnSpPr>
            <a:cxnSpLocks/>
          </p:cNvCxnSpPr>
          <p:nvPr/>
        </p:nvCxnSpPr>
        <p:spPr>
          <a:xfrm flipV="1">
            <a:off x="11056283" y="12657763"/>
            <a:ext cx="0" cy="10128984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8B10275-54D6-D7C9-5094-161419E17728}"/>
              </a:ext>
            </a:extLst>
          </p:cNvPr>
          <p:cNvSpPr txBox="1"/>
          <p:nvPr/>
        </p:nvSpPr>
        <p:spPr>
          <a:xfrm>
            <a:off x="741119" y="21980350"/>
            <a:ext cx="95036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lang="es-E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Near</a:t>
            </a:r>
            <a:r>
              <a: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-RT RIC permite controlar los </a:t>
            </a:r>
            <a:r>
              <a:rPr lang="es-E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PRBs</a:t>
            </a:r>
            <a:r>
              <a: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asignados a los usuarios. </a:t>
            </a:r>
          </a:p>
        </p:txBody>
      </p:sp>
    </p:spTree>
    <p:extLst>
      <p:ext uri="{BB962C8B-B14F-4D97-AF65-F5344CB8AC3E}">
        <p14:creationId xmlns:p14="http://schemas.microsoft.com/office/powerpoint/2010/main" val="19540005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69</TotalTime>
  <Words>236</Words>
  <Application>Microsoft Office PowerPoint</Application>
  <PresentationFormat>Personalizado</PresentationFormat>
  <Paragraphs>26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Julia MCJ</dc:creator>
  <cp:lastModifiedBy>Alejandra Oliver</cp:lastModifiedBy>
  <cp:revision>8</cp:revision>
  <dcterms:created xsi:type="dcterms:W3CDTF">2024-04-04T08:06:02Z</dcterms:created>
  <dcterms:modified xsi:type="dcterms:W3CDTF">2025-05-20T21:30:14Z</dcterms:modified>
</cp:coreProperties>
</file>